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Nova Bold" charset="1" panose="020B0804020202020204"/>
      <p:regular r:id="rId16"/>
    </p:embeddedFont>
    <p:embeddedFont>
      <p:font typeface="Arial Nova" charset="1" panose="020B05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18" Target="../media/image67.png" Type="http://schemas.openxmlformats.org/officeDocument/2006/relationships/image"/><Relationship Id="rId19" Target="../media/image68.png" Type="http://schemas.openxmlformats.org/officeDocument/2006/relationships/image"/><Relationship Id="rId2" Target="../media/image51.png" Type="http://schemas.openxmlformats.org/officeDocument/2006/relationships/image"/><Relationship Id="rId20" Target="../media/image69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854356"/>
            <a:ext cx="10675292" cy="3432644"/>
          </a:xfrm>
          <a:custGeom>
            <a:avLst/>
            <a:gdLst/>
            <a:ahLst/>
            <a:cxnLst/>
            <a:rect r="r" b="b" t="t" l="l"/>
            <a:pathLst>
              <a:path h="3432644" w="10675292">
                <a:moveTo>
                  <a:pt x="0" y="0"/>
                </a:moveTo>
                <a:lnTo>
                  <a:pt x="10675292" y="0"/>
                </a:lnTo>
                <a:lnTo>
                  <a:pt x="1067529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1818" y="1279043"/>
            <a:ext cx="8936182" cy="9007957"/>
          </a:xfrm>
          <a:custGeom>
            <a:avLst/>
            <a:gdLst/>
            <a:ahLst/>
            <a:cxnLst/>
            <a:rect r="r" b="b" t="t" l="l"/>
            <a:pathLst>
              <a:path h="9007957" w="8936182">
                <a:moveTo>
                  <a:pt x="0" y="0"/>
                </a:moveTo>
                <a:lnTo>
                  <a:pt x="8936182" y="0"/>
                </a:lnTo>
                <a:lnTo>
                  <a:pt x="8936182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3555" y="1917452"/>
            <a:ext cx="9332759" cy="240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6"/>
              </a:lnSpc>
            </a:pPr>
            <a:r>
              <a:rPr lang="en-US" sz="9032" b="true">
                <a:solidFill>
                  <a:srgbClr val="05233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Machine </a:t>
            </a:r>
          </a:p>
          <a:p>
            <a:pPr algn="l">
              <a:lnSpc>
                <a:spcPts val="9306"/>
              </a:lnSpc>
            </a:pPr>
            <a:r>
              <a:rPr lang="en-US" sz="9032" b="true">
                <a:solidFill>
                  <a:srgbClr val="05233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Failure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5172" y="4573646"/>
            <a:ext cx="7849962" cy="47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3588" b="true">
                <a:solidFill>
                  <a:srgbClr val="13999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Classify failures from operating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3838" y="5915667"/>
            <a:ext cx="2983343" cy="42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036" b="true">
                <a:solidFill>
                  <a:srgbClr val="05233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Yan Myoe Naing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5850" y="6551502"/>
            <a:ext cx="2782150" cy="40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3102">
                <a:solidFill>
                  <a:srgbClr val="05233D"/>
                </a:solidFill>
                <a:latin typeface="Arial Nova"/>
                <a:ea typeface="Arial Nova"/>
                <a:cs typeface="Arial Nova"/>
                <a:sym typeface="Arial Nova"/>
              </a:rPr>
              <a:t>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64382"/>
            <a:ext cx="9362756" cy="4722618"/>
          </a:xfrm>
          <a:custGeom>
            <a:avLst/>
            <a:gdLst/>
            <a:ahLst/>
            <a:cxnLst/>
            <a:rect r="r" b="b" t="t" l="l"/>
            <a:pathLst>
              <a:path h="4722618" w="9362756">
                <a:moveTo>
                  <a:pt x="0" y="0"/>
                </a:moveTo>
                <a:lnTo>
                  <a:pt x="9362756" y="0"/>
                </a:lnTo>
                <a:lnTo>
                  <a:pt x="936275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1162" y="693920"/>
            <a:ext cx="7608805" cy="91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true">
                <a:solidFill>
                  <a:srgbClr val="0B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8075" y="2298914"/>
            <a:ext cx="2596451" cy="47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3616" b="true">
                <a:solidFill>
                  <a:srgbClr val="16999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20,000 </a:t>
            </a:r>
            <a:r>
              <a:rPr lang="en-US" sz="3616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rows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7778" y="3096582"/>
            <a:ext cx="3626089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b="true">
                <a:solidFill>
                  <a:srgbClr val="16999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 </a:t>
            </a:r>
            <a:r>
              <a:rPr lang="en-US" sz="3478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original columns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9868" y="4090597"/>
            <a:ext cx="3417069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Class distribution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371" y="4793534"/>
            <a:ext cx="6366855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b="true">
                <a:solidFill>
                  <a:srgbClr val="16999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96.6% normal, 3.4% failure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8912" y="6123454"/>
            <a:ext cx="3512670" cy="40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0B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Predictors include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624" y="6611946"/>
            <a:ext cx="5941486" cy="137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Quality, ambient temperature, process temperature, rotation speed, torque, tool wear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7286" y="8488006"/>
            <a:ext cx="4675292" cy="40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true">
                <a:solidFill>
                  <a:srgbClr val="0B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Excluded from modeling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052" y="9066935"/>
            <a:ext cx="3498688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Unique ID, Product ID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445598" y="1924030"/>
            <a:ext cx="6103292" cy="6438940"/>
          </a:xfrm>
          <a:custGeom>
            <a:avLst/>
            <a:gdLst/>
            <a:ahLst/>
            <a:cxnLst/>
            <a:rect r="r" b="b" t="t" l="l"/>
            <a:pathLst>
              <a:path h="6438940" w="6103292">
                <a:moveTo>
                  <a:pt x="0" y="0"/>
                </a:moveTo>
                <a:lnTo>
                  <a:pt x="6103292" y="0"/>
                </a:lnTo>
                <a:lnTo>
                  <a:pt x="610329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76631" y="6143042"/>
            <a:ext cx="1612763" cy="56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</a:pPr>
            <a:r>
              <a:rPr lang="en-US" sz="4308" b="true">
                <a:solidFill>
                  <a:srgbClr val="E6F1F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96.6%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1333" y="6876853"/>
            <a:ext cx="1443358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78">
                <a:solidFill>
                  <a:srgbClr val="E6F1F0"/>
                </a:solidFill>
                <a:latin typeface="Arial Nova"/>
                <a:ea typeface="Arial Nova"/>
                <a:cs typeface="Arial Nova"/>
                <a:sym typeface="Arial Nova"/>
              </a:rPr>
              <a:t>Normal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74477" y="8759458"/>
            <a:ext cx="3417069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78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Class distribution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21502" y="913345"/>
            <a:ext cx="1123020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true">
                <a:solidFill>
                  <a:srgbClr val="16999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3.4%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35858" y="1521454"/>
            <a:ext cx="109430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640"/>
                </a:solidFill>
                <a:latin typeface="Arial Nova"/>
                <a:ea typeface="Arial Nova"/>
                <a:cs typeface="Arial Nova"/>
                <a:sym typeface="Arial Nova"/>
              </a:rPr>
              <a:t>Failure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0"/>
            <a:ext cx="7842402" cy="10287000"/>
          </a:xfrm>
          <a:custGeom>
            <a:avLst/>
            <a:gdLst/>
            <a:ahLst/>
            <a:cxnLst/>
            <a:rect r="r" b="b" t="t" l="l"/>
            <a:pathLst>
              <a:path h="10287000" w="7842402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3361" y="454558"/>
            <a:ext cx="7709990" cy="112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5"/>
              </a:lnSpc>
            </a:pPr>
            <a:r>
              <a:rPr lang="en-US" sz="7403" b="true">
                <a:solidFill>
                  <a:srgbClr val="081D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 Exploration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0358" y="1629303"/>
            <a:ext cx="5010249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Key exploratory data insights.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3581" y="2864293"/>
            <a:ext cx="4687962" cy="7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139" b="true">
                <a:solidFill>
                  <a:srgbClr val="0B939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991, 400, 1,188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873598" y="2776725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56634" y="2753331"/>
            <a:ext cx="3879617" cy="11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Missing values in quality, process temperature,</a:t>
            </a:r>
          </a:p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and rotation speed.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899" y="4280011"/>
            <a:ext cx="1856220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5554" b="true">
                <a:solidFill>
                  <a:srgbClr val="0B939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+0.87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73598" y="4285339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55139" y="4289536"/>
            <a:ext cx="4029062" cy="11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Ambient and process temperature are positively correlated.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555" y="5725852"/>
            <a:ext cx="1690641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5554" b="true">
                <a:solidFill>
                  <a:srgbClr val="0B939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-0.87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73598" y="578302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50093" y="5891522"/>
            <a:ext cx="4533635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Rotation speed and torque are negatively correlated.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7258" y="7081328"/>
            <a:ext cx="4320286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5554" b="true">
                <a:solidFill>
                  <a:srgbClr val="0B939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+0.19 / +0.11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873598" y="706206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53030" y="7090853"/>
            <a:ext cx="4239960" cy="11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Torque and tool wear show weak positive correlation with the target.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5330" y="8570678"/>
            <a:ext cx="8290852" cy="1289974"/>
          </a:xfrm>
          <a:custGeom>
            <a:avLst/>
            <a:gdLst/>
            <a:ahLst/>
            <a:cxnLst/>
            <a:rect r="r" b="b" t="t" l="l"/>
            <a:pathLst>
              <a:path h="1289974" w="8290852">
                <a:moveTo>
                  <a:pt x="0" y="0"/>
                </a:moveTo>
                <a:lnTo>
                  <a:pt x="8290852" y="0"/>
                </a:lnTo>
                <a:lnTo>
                  <a:pt x="8290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5065" y="8750496"/>
            <a:ext cx="6328660" cy="80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1D40"/>
                </a:solidFill>
                <a:latin typeface="Arial Nova"/>
                <a:ea typeface="Arial Nova"/>
                <a:cs typeface="Arial Nova"/>
                <a:sym typeface="Arial Nova"/>
              </a:rPr>
              <a:t>These findings show associations in the data.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B939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No causal claims are made.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0574" y="0"/>
            <a:ext cx="3062584" cy="10287000"/>
          </a:xfrm>
          <a:custGeom>
            <a:avLst/>
            <a:gdLst/>
            <a:ahLst/>
            <a:cxnLst/>
            <a:rect r="r" b="b" t="t" l="l"/>
            <a:pathLst>
              <a:path h="10287000" w="3062584">
                <a:moveTo>
                  <a:pt x="0" y="0"/>
                </a:moveTo>
                <a:lnTo>
                  <a:pt x="3062584" y="0"/>
                </a:lnTo>
                <a:lnTo>
                  <a:pt x="30625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5598" y="0"/>
            <a:ext cx="7842402" cy="10287000"/>
          </a:xfrm>
          <a:custGeom>
            <a:avLst/>
            <a:gdLst/>
            <a:ahLst/>
            <a:cxnLst/>
            <a:rect r="r" b="b" t="t" l="l"/>
            <a:pathLst>
              <a:path h="10287000" w="7842402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7938" y="583970"/>
            <a:ext cx="7610103" cy="10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8"/>
              </a:lnSpc>
            </a:pPr>
            <a:r>
              <a:rPr lang="en-US" sz="7264" b="true">
                <a:solidFill>
                  <a:srgbClr val="08213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545" y="2137064"/>
            <a:ext cx="6049376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b="true">
                <a:solidFill>
                  <a:srgbClr val="19304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Cleaned and prepared for modelling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891" y="2686194"/>
            <a:ext cx="4514821" cy="88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Quality</a:t>
            </a:r>
            <a:r>
              <a:rPr lang="en-US" sz="2575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imputed by mode and encoded as ordinal values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9449" y="3710331"/>
            <a:ext cx="5459004" cy="88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Process temperature</a:t>
            </a:r>
            <a:r>
              <a:rPr lang="en-US" sz="2575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forward-filled by row order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4977" y="4787772"/>
            <a:ext cx="4906225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Rotation speed</a:t>
            </a:r>
            <a:r>
              <a:rPr lang="en-US" sz="2654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mean-imputed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0847" y="5375144"/>
            <a:ext cx="6319218" cy="41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16,000</a:t>
            </a:r>
            <a:r>
              <a:rPr lang="en-US" sz="2654" b="true">
                <a:solidFill>
                  <a:srgbClr val="19304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training rows  | </a:t>
            </a:r>
            <a:r>
              <a:rPr lang="en-US" sz="2654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4,000</a:t>
            </a:r>
            <a:r>
              <a:rPr lang="en-US" sz="2654" b="true">
                <a:solidFill>
                  <a:srgbClr val="19304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test rows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6428009"/>
            <a:ext cx="8498670" cy="3432644"/>
          </a:xfrm>
          <a:custGeom>
            <a:avLst/>
            <a:gdLst/>
            <a:ahLst/>
            <a:cxnLst/>
            <a:rect r="r" b="b" t="t" l="l"/>
            <a:pathLst>
              <a:path h="3432644" w="8498670">
                <a:moveTo>
                  <a:pt x="0" y="0"/>
                </a:moveTo>
                <a:lnTo>
                  <a:pt x="8498670" y="0"/>
                </a:lnTo>
                <a:lnTo>
                  <a:pt x="8498670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9763" y="6851426"/>
            <a:ext cx="5501045" cy="7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Scaling</a:t>
            </a:r>
            <a:r>
              <a:rPr lang="en-US" sz="2271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and </a:t>
            </a:r>
            <a:r>
              <a:rPr lang="en-US" sz="2271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2-component PCA</a:t>
            </a:r>
            <a:r>
              <a:rPr lang="en-US" sz="2271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explored for baseline models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6906" y="7805451"/>
            <a:ext cx="5786719" cy="68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Ensembles use </a:t>
            </a:r>
            <a:r>
              <a:rPr lang="en-US" sz="2109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original</a:t>
            </a:r>
            <a:r>
              <a:rPr lang="en-US" sz="2109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or </a:t>
            </a:r>
            <a:r>
              <a:rPr lang="en-US" sz="2109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subset predictors</a:t>
            </a:r>
            <a:r>
              <a:rPr lang="en-US" sz="2109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(exclude </a:t>
            </a:r>
            <a:r>
              <a:rPr lang="en-US" sz="2109" b="true">
                <a:solidFill>
                  <a:srgbClr val="18999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Quality</a:t>
            </a:r>
            <a:r>
              <a:rPr lang="en-US" sz="2109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 optionally); no PCA inputs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8653" y="8794275"/>
            <a:ext cx="5612002" cy="7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3"/>
              </a:lnSpc>
              <a:spcBef>
                <a:spcPct val="0"/>
              </a:spcBef>
            </a:pPr>
            <a:r>
              <a:rPr lang="en-US" sz="2271" strike="noStrike" u="none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Imputation used the full dataset before splitting. Fit it on training data instead.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305" y="5917470"/>
            <a:ext cx="2673373" cy="3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19304B"/>
                </a:solidFill>
                <a:latin typeface="Arial Nova"/>
                <a:ea typeface="Arial Nova"/>
                <a:cs typeface="Arial Nova"/>
                <a:sym typeface="Arial Nova"/>
              </a:rPr>
              <a:t>80/20 stratified split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426348"/>
            <a:ext cx="7197072" cy="9434305"/>
          </a:xfrm>
          <a:custGeom>
            <a:avLst/>
            <a:gdLst/>
            <a:ahLst/>
            <a:cxnLst/>
            <a:rect r="r" b="b" t="t" l="l"/>
            <a:pathLst>
              <a:path h="9434305" w="7197072">
                <a:moveTo>
                  <a:pt x="0" y="0"/>
                </a:moveTo>
                <a:lnTo>
                  <a:pt x="7197072" y="0"/>
                </a:lnTo>
                <a:lnTo>
                  <a:pt x="7197072" y="9434304"/>
                </a:lnTo>
                <a:lnTo>
                  <a:pt x="0" y="943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574" y="6635716"/>
            <a:ext cx="9811206" cy="3224936"/>
          </a:xfrm>
          <a:custGeom>
            <a:avLst/>
            <a:gdLst/>
            <a:ahLst/>
            <a:cxnLst/>
            <a:rect r="r" b="b" t="t" l="l"/>
            <a:pathLst>
              <a:path h="3224936" w="9811206">
                <a:moveTo>
                  <a:pt x="0" y="0"/>
                </a:moveTo>
                <a:lnTo>
                  <a:pt x="9811206" y="0"/>
                </a:lnTo>
                <a:lnTo>
                  <a:pt x="981120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5810" y="735093"/>
            <a:ext cx="4465103" cy="18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1"/>
              </a:lnSpc>
            </a:pPr>
            <a:r>
              <a:rPr lang="en-US" sz="6985" spc="-126" b="true">
                <a:solidFill>
                  <a:srgbClr val="09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Baseline</a:t>
            </a:r>
          </a:p>
          <a:p>
            <a:pPr algn="l">
              <a:lnSpc>
                <a:spcPts val="7121"/>
              </a:lnSpc>
            </a:pPr>
            <a:r>
              <a:rPr lang="en-US" sz="6985" spc="-126" b="true">
                <a:solidFill>
                  <a:srgbClr val="09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413" y="2945319"/>
            <a:ext cx="5704799" cy="55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2970" spc="-53" b="true">
                <a:solidFill>
                  <a:srgbClr val="09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Majority-class dummy classifier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2773" y="4163447"/>
            <a:ext cx="2768822" cy="90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9"/>
              </a:lnSpc>
            </a:pPr>
            <a:r>
              <a:rPr lang="en-US" sz="6845" spc="-123" b="true">
                <a:solidFill>
                  <a:srgbClr val="0B93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96.6%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001" y="5033242"/>
            <a:ext cx="1446012" cy="5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2707" spc="-48">
                <a:solidFill>
                  <a:srgbClr val="092640"/>
                </a:solidFill>
                <a:latin typeface="Arial Nova"/>
                <a:ea typeface="Arial Nova"/>
                <a:cs typeface="Arial Nova"/>
                <a:sym typeface="Arial Nova"/>
              </a:rPr>
              <a:t>accuracy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915732" y="4066699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48542" y="4163447"/>
            <a:ext cx="559842" cy="90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9"/>
              </a:lnSpc>
            </a:pPr>
            <a:r>
              <a:rPr lang="en-US" sz="6845" spc="-123" b="true">
                <a:solidFill>
                  <a:srgbClr val="0B93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34089" y="5033242"/>
            <a:ext cx="2005174" cy="5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2707" spc="-48">
                <a:solidFill>
                  <a:srgbClr val="092640"/>
                </a:solidFill>
                <a:latin typeface="Arial Nova"/>
                <a:ea typeface="Arial Nova"/>
                <a:cs typeface="Arial Nova"/>
                <a:sym typeface="Arial Nova"/>
              </a:rPr>
              <a:t>failure recall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12708" y="4066699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91855" y="4163447"/>
            <a:ext cx="559842" cy="90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9"/>
              </a:lnSpc>
            </a:pPr>
            <a:r>
              <a:rPr lang="en-US" sz="6845" spc="-123" b="true">
                <a:solidFill>
                  <a:srgbClr val="0B93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83818" y="5041430"/>
            <a:ext cx="1363560" cy="49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sz="2654" spc="-47">
                <a:solidFill>
                  <a:srgbClr val="092640"/>
                </a:solidFill>
                <a:latin typeface="Arial Nova"/>
                <a:ea typeface="Arial Nova"/>
                <a:cs typeface="Arial Nova"/>
                <a:sym typeface="Arial Nova"/>
              </a:rPr>
              <a:t>F1  score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227" y="7097952"/>
            <a:ext cx="6054689" cy="63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403" spc="-61" b="true">
                <a:solidFill>
                  <a:srgbClr val="0926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Accuracy alone is not enough.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17" y="7835599"/>
            <a:ext cx="5415681" cy="13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3"/>
              </a:lnSpc>
            </a:pPr>
            <a:r>
              <a:rPr lang="en-US" sz="3478" spc="-62" b="true">
                <a:solidFill>
                  <a:srgbClr val="0B93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We prioritise failure recall</a:t>
            </a:r>
          </a:p>
          <a:p>
            <a:pPr algn="l">
              <a:lnSpc>
                <a:spcPts val="5563"/>
              </a:lnSpc>
            </a:pPr>
            <a:r>
              <a:rPr lang="en-US" sz="3478" spc="-62" b="true">
                <a:solidFill>
                  <a:srgbClr val="0B93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and F1  for this project.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24676" y="5688292"/>
            <a:ext cx="2946419" cy="3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84" spc="-32">
                <a:solidFill>
                  <a:srgbClr val="092640"/>
                </a:solidFill>
                <a:latin typeface="Arial Nova"/>
                <a:ea typeface="Arial Nova"/>
                <a:cs typeface="Arial Nova"/>
                <a:sym typeface="Arial Nova"/>
              </a:rPr>
              <a:t>0/136 test failures detected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885" y="729535"/>
            <a:ext cx="7757575" cy="86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Model Comparison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7920" y="2379978"/>
            <a:ext cx="1116572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2776725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6371" y="3219284"/>
            <a:ext cx="1271465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Dummy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3640352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25856" y="4062691"/>
            <a:ext cx="3322973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Logistic Regression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4493047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6141" y="4875976"/>
            <a:ext cx="2294450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Decision Tree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5356674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8422" y="5734444"/>
            <a:ext cx="2066389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Naive Bayes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6209369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33511" y="6562791"/>
            <a:ext cx="2557464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Random Forest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7062064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8245" y="7406198"/>
            <a:ext cx="5084128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Gradient Boosting with Quality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5330" y="7925691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02849" y="8249605"/>
            <a:ext cx="5623653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Gradient Boosting without Quality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175196" y="1924030"/>
            <a:ext cx="3718852" cy="1082267"/>
          </a:xfrm>
          <a:custGeom>
            <a:avLst/>
            <a:gdLst/>
            <a:ahLst/>
            <a:cxnLst/>
            <a:rect r="r" b="b" t="t" l="l"/>
            <a:pathLst>
              <a:path h="1082267" w="3718852">
                <a:moveTo>
                  <a:pt x="0" y="0"/>
                </a:moveTo>
                <a:lnTo>
                  <a:pt x="3718852" y="0"/>
                </a:lnTo>
                <a:lnTo>
                  <a:pt x="371885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37436" y="2379978"/>
            <a:ext cx="1726307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896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Precision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175196" y="2776725"/>
            <a:ext cx="3718852" cy="6231233"/>
          </a:xfrm>
          <a:custGeom>
            <a:avLst/>
            <a:gdLst/>
            <a:ahLst/>
            <a:cxnLst/>
            <a:rect r="r" b="b" t="t" l="l"/>
            <a:pathLst>
              <a:path h="6231233" w="3718852">
                <a:moveTo>
                  <a:pt x="0" y="0"/>
                </a:moveTo>
                <a:lnTo>
                  <a:pt x="3718852" y="0"/>
                </a:lnTo>
                <a:lnTo>
                  <a:pt x="3718852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479101" y="3238390"/>
            <a:ext cx="1042976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0.00%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79101" y="4081797"/>
            <a:ext cx="1042976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0.00%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76734" y="4895082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88.73%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76734" y="5753550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30.34%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76734" y="6581896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99.07%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76734" y="7425304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99.08%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76734" y="8268711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98.20%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664354" y="1924030"/>
            <a:ext cx="3489158" cy="1082267"/>
          </a:xfrm>
          <a:custGeom>
            <a:avLst/>
            <a:gdLst/>
            <a:ahLst/>
            <a:cxnLst/>
            <a:rect r="r" b="b" t="t" l="l"/>
            <a:pathLst>
              <a:path h="1082267" w="3489158">
                <a:moveTo>
                  <a:pt x="0" y="0"/>
                </a:moveTo>
                <a:lnTo>
                  <a:pt x="3489158" y="0"/>
                </a:lnTo>
                <a:lnTo>
                  <a:pt x="3489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866331" y="2379978"/>
            <a:ext cx="1126517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896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Recall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664354" y="2776725"/>
            <a:ext cx="3489158" cy="6231233"/>
          </a:xfrm>
          <a:custGeom>
            <a:avLst/>
            <a:gdLst/>
            <a:ahLst/>
            <a:cxnLst/>
            <a:rect r="r" b="b" t="t" l="l"/>
            <a:pathLst>
              <a:path h="6231233" w="3489158">
                <a:moveTo>
                  <a:pt x="0" y="0"/>
                </a:moveTo>
                <a:lnTo>
                  <a:pt x="3489158" y="0"/>
                </a:lnTo>
                <a:lnTo>
                  <a:pt x="3489158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908101" y="3238390"/>
            <a:ext cx="1042976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0.00%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08101" y="4081797"/>
            <a:ext cx="1042976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0.00%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05734" y="4895082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46.32%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05734" y="5753550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19.85%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05734" y="6581896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78.68%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05734" y="7425304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79.41%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05734" y="8268711"/>
            <a:ext cx="124771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80.15%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923818" y="1924030"/>
            <a:ext cx="3500096" cy="1082267"/>
          </a:xfrm>
          <a:custGeom>
            <a:avLst/>
            <a:gdLst/>
            <a:ahLst/>
            <a:cxnLst/>
            <a:rect r="r" b="b" t="t" l="l"/>
            <a:pathLst>
              <a:path h="1082267" w="3500096">
                <a:moveTo>
                  <a:pt x="0" y="0"/>
                </a:moveTo>
                <a:lnTo>
                  <a:pt x="3500096" y="0"/>
                </a:lnTo>
                <a:lnTo>
                  <a:pt x="350009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580473" y="2379978"/>
            <a:ext cx="449077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896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F1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923818" y="2776725"/>
            <a:ext cx="3500096" cy="6231233"/>
          </a:xfrm>
          <a:custGeom>
            <a:avLst/>
            <a:gdLst/>
            <a:ahLst/>
            <a:cxnLst/>
            <a:rect r="r" b="b" t="t" l="l"/>
            <a:pathLst>
              <a:path h="6231233" w="3500096">
                <a:moveTo>
                  <a:pt x="0" y="0"/>
                </a:moveTo>
                <a:lnTo>
                  <a:pt x="3500096" y="0"/>
                </a:lnTo>
                <a:lnTo>
                  <a:pt x="3500096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5344543" y="3238390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0.000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44543" y="4081797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0.000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344543" y="4895082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0.609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344543" y="5753550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0.240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344543" y="6581896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0.877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44543" y="7425304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0.882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344543" y="8268711"/>
            <a:ext cx="920937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0.883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06481" y="9378693"/>
            <a:ext cx="5076883" cy="26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b="true">
                <a:solidFill>
                  <a:srgbClr val="0B244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Source: </a:t>
            </a:r>
            <a:r>
              <a:rPr lang="en-US" sz="2047">
                <a:solidFill>
                  <a:srgbClr val="0B244D"/>
                </a:solidFill>
                <a:latin typeface="Arial Nova"/>
                <a:ea typeface="Arial Nova"/>
                <a:cs typeface="Arial Nova"/>
                <a:sym typeface="Arial Nova"/>
              </a:rPr>
              <a:t>supplied notebook saved outputs.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758" y="710584"/>
            <a:ext cx="10612487" cy="73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spc="-111" b="true">
                <a:solidFill>
                  <a:srgbClr val="0B2A43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Optuna Hyperparameter Tuning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9611" y="1620619"/>
            <a:ext cx="6727180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>
                <a:solidFill>
                  <a:srgbClr val="34A29F"/>
                </a:solidFill>
                <a:latin typeface="Arial Nova"/>
                <a:ea typeface="Arial Nova"/>
                <a:cs typeface="Arial Nova"/>
                <a:sym typeface="Arial Nova"/>
              </a:rPr>
              <a:t>Gradient Boosting without Quality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10248718" cy="2153601"/>
          </a:xfrm>
          <a:custGeom>
            <a:avLst/>
            <a:gdLst/>
            <a:ahLst/>
            <a:cxnLst/>
            <a:rect r="r" b="b" t="t" l="l"/>
            <a:pathLst>
              <a:path h="2153601" w="10248718">
                <a:moveTo>
                  <a:pt x="0" y="0"/>
                </a:moveTo>
                <a:lnTo>
                  <a:pt x="10248718" y="0"/>
                </a:lnTo>
                <a:lnTo>
                  <a:pt x="1024871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1786" y="3031029"/>
            <a:ext cx="1372197" cy="123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1508" y="2956011"/>
            <a:ext cx="3492180" cy="110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271" spc="-22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trials with stratified shuffled 5-fold crossValidation</a:t>
            </a:r>
          </a:p>
          <a:p>
            <a:pPr algn="l">
              <a:lnSpc>
                <a:spcPts val="3066"/>
              </a:lnSpc>
            </a:pPr>
            <a:r>
              <a:rPr lang="en-US" sz="2271" spc="-22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on training data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6440" y="2995365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35869" y="3067374"/>
            <a:ext cx="2580307" cy="80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179" spc="-21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Objective</a:t>
            </a:r>
          </a:p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maximise F1 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713" y="4945689"/>
            <a:ext cx="1717030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 b="true">
                <a:solidFill>
                  <a:srgbClr val="0B2A43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Best CV F1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974" y="5528392"/>
            <a:ext cx="3390901" cy="94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0.88435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73308" y="4945689"/>
            <a:ext cx="2560628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 b="true">
                <a:solidFill>
                  <a:srgbClr val="0B2A43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Best parameters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77977" y="5362592"/>
            <a:ext cx="2093675" cy="272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nEstimators</a:t>
            </a:r>
          </a:p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learning_rate</a:t>
            </a:r>
          </a:p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max_depth</a:t>
            </a:r>
          </a:p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min Samples_split</a:t>
            </a:r>
          </a:p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min Samples leaf</a:t>
            </a:r>
          </a:p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subsample</a:t>
            </a:r>
          </a:p>
          <a:p>
            <a:pPr algn="l">
              <a:lnSpc>
                <a:spcPts val="3177"/>
              </a:lnSpc>
            </a:pPr>
            <a:r>
              <a:rPr lang="en-US" sz="1986" spc="-19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max_features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45319" y="5362592"/>
            <a:ext cx="938462" cy="272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493</a:t>
            </a:r>
          </a:p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0.10478</a:t>
            </a:r>
          </a:p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10</a:t>
            </a:r>
          </a:p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</a:t>
            </a:r>
          </a:p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7</a:t>
            </a:r>
          </a:p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0.76092</a:t>
            </a:r>
          </a:p>
          <a:p>
            <a:pPr algn="l">
              <a:lnSpc>
                <a:spcPts val="3177"/>
              </a:lnSpc>
            </a:pPr>
            <a:r>
              <a:rPr lang="en-US" sz="1986" spc="-19" b="true">
                <a:solidFill>
                  <a:srgbClr val="34A29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None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8778386"/>
            <a:ext cx="9592450" cy="874559"/>
          </a:xfrm>
          <a:custGeom>
            <a:avLst/>
            <a:gdLst/>
            <a:ahLst/>
            <a:cxnLst/>
            <a:rect r="r" b="b" t="t" l="l"/>
            <a:pathLst>
              <a:path h="874559" w="9592450">
                <a:moveTo>
                  <a:pt x="0" y="0"/>
                </a:moveTo>
                <a:lnTo>
                  <a:pt x="9592450" y="0"/>
                </a:lnTo>
                <a:lnTo>
                  <a:pt x="9592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1798" y="8995080"/>
            <a:ext cx="7976452" cy="31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924" spc="-18">
                <a:solidFill>
                  <a:srgbClr val="0B2A43"/>
                </a:solidFill>
                <a:latin typeface="Arial Nova"/>
                <a:ea typeface="Arial Nova"/>
                <a:cs typeface="Arial Nova"/>
                <a:sym typeface="Arial Nova"/>
              </a:rPr>
              <a:t>CrossValidation results above. Final performance reported on test data.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83110" y="1071335"/>
            <a:ext cx="7404890" cy="9007957"/>
          </a:xfrm>
          <a:custGeom>
            <a:avLst/>
            <a:gdLst/>
            <a:ahLst/>
            <a:cxnLst/>
            <a:rect r="r" b="b" t="t" l="l"/>
            <a:pathLst>
              <a:path h="9007957" w="7404890">
                <a:moveTo>
                  <a:pt x="0" y="0"/>
                </a:moveTo>
                <a:lnTo>
                  <a:pt x="7404890" y="0"/>
                </a:lnTo>
                <a:lnTo>
                  <a:pt x="7404890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1703" y="653687"/>
            <a:ext cx="12086730" cy="88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Selected Model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2927" y="1732361"/>
            <a:ext cx="9964349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>
                <a:solidFill>
                  <a:srgbClr val="122642"/>
                </a:solidFill>
                <a:latin typeface="Arial Nova"/>
                <a:ea typeface="Arial Nova"/>
                <a:cs typeface="Arial Nova"/>
                <a:sym typeface="Arial Nova"/>
              </a:rPr>
              <a:t>Test set results for tuned Gradient Boosting without Quality.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350377"/>
            <a:ext cx="7634584" cy="7083928"/>
          </a:xfrm>
          <a:custGeom>
            <a:avLst/>
            <a:gdLst/>
            <a:ahLst/>
            <a:cxnLst/>
            <a:rect r="r" b="b" t="t" l="l"/>
            <a:pathLst>
              <a:path h="7083928" w="7634584">
                <a:moveTo>
                  <a:pt x="0" y="0"/>
                </a:moveTo>
                <a:lnTo>
                  <a:pt x="7634584" y="0"/>
                </a:lnTo>
                <a:lnTo>
                  <a:pt x="7634584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8308" y="3442338"/>
            <a:ext cx="139889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Accuracy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7028" y="3168848"/>
            <a:ext cx="3059688" cy="88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99.60%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2842" y="4066699"/>
            <a:ext cx="6322048" cy="437279"/>
          </a:xfrm>
          <a:custGeom>
            <a:avLst/>
            <a:gdLst/>
            <a:ahLst/>
            <a:cxnLst/>
            <a:rect r="r" b="b" t="t" l="l"/>
            <a:pathLst>
              <a:path h="437279" w="6322048">
                <a:moveTo>
                  <a:pt x="0" y="0"/>
                </a:moveTo>
                <a:lnTo>
                  <a:pt x="6322048" y="0"/>
                </a:lnTo>
                <a:lnTo>
                  <a:pt x="632204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8300" y="4978544"/>
            <a:ext cx="1399654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Precision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27028" y="4705054"/>
            <a:ext cx="3059688" cy="88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96.88%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2842" y="5783021"/>
            <a:ext cx="6322048" cy="218640"/>
          </a:xfrm>
          <a:custGeom>
            <a:avLst/>
            <a:gdLst/>
            <a:ahLst/>
            <a:cxnLst/>
            <a:rect r="r" b="b" t="t" l="l"/>
            <a:pathLst>
              <a:path h="218640" w="6322048">
                <a:moveTo>
                  <a:pt x="0" y="0"/>
                </a:moveTo>
                <a:lnTo>
                  <a:pt x="6322048" y="0"/>
                </a:lnTo>
                <a:lnTo>
                  <a:pt x="6322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23111" y="6499689"/>
            <a:ext cx="918589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27028" y="6241259"/>
            <a:ext cx="3059688" cy="88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91.18%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2842" y="7280704"/>
            <a:ext cx="6322048" cy="229572"/>
          </a:xfrm>
          <a:custGeom>
            <a:avLst/>
            <a:gdLst/>
            <a:ahLst/>
            <a:cxnLst/>
            <a:rect r="r" b="b" t="t" l="l"/>
            <a:pathLst>
              <a:path h="229572" w="6322048">
                <a:moveTo>
                  <a:pt x="0" y="0"/>
                </a:moveTo>
                <a:lnTo>
                  <a:pt x="6322048" y="0"/>
                </a:lnTo>
                <a:lnTo>
                  <a:pt x="6322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19458" y="8035895"/>
            <a:ext cx="128384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F1 score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24961" y="7762404"/>
            <a:ext cx="3266372" cy="88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0.93939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50220" y="2350377"/>
            <a:ext cx="9592450" cy="4514911"/>
          </a:xfrm>
          <a:custGeom>
            <a:avLst/>
            <a:gdLst/>
            <a:ahLst/>
            <a:cxnLst/>
            <a:rect r="r" b="b" t="t" l="l"/>
            <a:pathLst>
              <a:path h="4514911" w="9592450">
                <a:moveTo>
                  <a:pt x="0" y="0"/>
                </a:moveTo>
                <a:lnTo>
                  <a:pt x="9592450" y="0"/>
                </a:lnTo>
                <a:lnTo>
                  <a:pt x="959245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50220" y="3848060"/>
            <a:ext cx="1750048" cy="3017228"/>
          </a:xfrm>
          <a:custGeom>
            <a:avLst/>
            <a:gdLst/>
            <a:ahLst/>
            <a:cxnLst/>
            <a:rect r="r" b="b" t="t" l="l"/>
            <a:pathLst>
              <a:path h="3017228" w="1750048">
                <a:moveTo>
                  <a:pt x="0" y="0"/>
                </a:moveTo>
                <a:lnTo>
                  <a:pt x="1750048" y="0"/>
                </a:lnTo>
                <a:lnTo>
                  <a:pt x="1750048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446723" y="5204457"/>
            <a:ext cx="948070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true">
                <a:solidFill>
                  <a:srgbClr val="FFFFFF">
                    <a:alpha val="84706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Actual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44087" y="4526719"/>
            <a:ext cx="1077483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Normal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70090" y="5867134"/>
            <a:ext cx="1025476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Failure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07877" y="3427277"/>
            <a:ext cx="1077483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Normal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42825" y="4446269"/>
            <a:ext cx="1007587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3304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3860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94721" y="5786684"/>
            <a:ext cx="503793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3304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89441" y="3427277"/>
            <a:ext cx="1025476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true">
                <a:solidFill>
                  <a:srgbClr val="13898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Failure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24334" y="5786684"/>
            <a:ext cx="755690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3304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124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050220" y="6854356"/>
            <a:ext cx="9592450" cy="2579949"/>
          </a:xfrm>
          <a:custGeom>
            <a:avLst/>
            <a:gdLst/>
            <a:ahLst/>
            <a:cxnLst/>
            <a:rect r="r" b="b" t="t" l="l"/>
            <a:pathLst>
              <a:path h="2579949" w="9592450">
                <a:moveTo>
                  <a:pt x="0" y="0"/>
                </a:moveTo>
                <a:lnTo>
                  <a:pt x="9592450" y="0"/>
                </a:lnTo>
                <a:lnTo>
                  <a:pt x="959245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880705" y="7387846"/>
            <a:ext cx="4005302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FFFFFF">
                    <a:alpha val="84706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Detects 124/136 failures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90790" y="8005341"/>
            <a:ext cx="2996738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FFFFFF">
                    <a:alpha val="84706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Misses 12 failures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97586" y="8607774"/>
            <a:ext cx="2317192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true">
                <a:solidFill>
                  <a:srgbClr val="FFFFFF">
                    <a:alpha val="84706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 false alarms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3079" y="9695390"/>
            <a:ext cx="4380390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122642">
                    <a:alpha val="84706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Source: supplied notebook saved outputs.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01500" y="2620776"/>
            <a:ext cx="4875609" cy="32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520" b="true">
                <a:solidFill>
                  <a:srgbClr val="FFFFFF">
                    <a:alpha val="84706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Predicted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876230" y="4446269"/>
            <a:ext cx="251897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3304" b="true">
                <a:solidFill>
                  <a:srgbClr val="12264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7591" y="575045"/>
            <a:ext cx="9323727" cy="10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8"/>
              </a:lnSpc>
            </a:pPr>
            <a:r>
              <a:rPr lang="en-US" sz="7264" b="true">
                <a:solidFill>
                  <a:srgbClr val="0822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Recorded Trade-offs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3247" y="2035946"/>
            <a:ext cx="9436981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Comparison of key recorded tuning runs on the same task.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2776725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9866" y="3165510"/>
            <a:ext cx="641363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E7F5F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Run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98574" y="2776725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98119" y="3165510"/>
            <a:ext cx="392167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E7F5F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2776725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27840" y="3165510"/>
            <a:ext cx="983757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E7F5F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Recall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278488" y="2776725"/>
            <a:ext cx="4145426" cy="1082267"/>
          </a:xfrm>
          <a:custGeom>
            <a:avLst/>
            <a:gdLst/>
            <a:ahLst/>
            <a:cxnLst/>
            <a:rect r="r" b="b" t="t" l="l"/>
            <a:pathLst>
              <a:path h="1082267" w="4145426">
                <a:moveTo>
                  <a:pt x="0" y="0"/>
                </a:moveTo>
                <a:lnTo>
                  <a:pt x="4145426" y="0"/>
                </a:lnTo>
                <a:lnTo>
                  <a:pt x="414542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11098" y="3165510"/>
            <a:ext cx="1507537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true">
                <a:solidFill>
                  <a:srgbClr val="E7F5F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Precision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4086" y="3640352"/>
            <a:ext cx="4364182" cy="1289974"/>
          </a:xfrm>
          <a:custGeom>
            <a:avLst/>
            <a:gdLst/>
            <a:ahLst/>
            <a:cxnLst/>
            <a:rect r="r" b="b" t="t" l="l"/>
            <a:pathLst>
              <a:path h="1289974" w="4364182">
                <a:moveTo>
                  <a:pt x="0" y="0"/>
                </a:moveTo>
                <a:lnTo>
                  <a:pt x="4364182" y="0"/>
                </a:lnTo>
                <a:lnTo>
                  <a:pt x="436418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5244" y="4070571"/>
            <a:ext cx="2778687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Tuned with Quality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998574" y="3640352"/>
            <a:ext cx="4364182" cy="1289974"/>
          </a:xfrm>
          <a:custGeom>
            <a:avLst/>
            <a:gdLst/>
            <a:ahLst/>
            <a:cxnLst/>
            <a:rect r="r" b="b" t="t" l="l"/>
            <a:pathLst>
              <a:path h="1289974" w="4364182">
                <a:moveTo>
                  <a:pt x="0" y="0"/>
                </a:moveTo>
                <a:lnTo>
                  <a:pt x="4364182" y="0"/>
                </a:lnTo>
                <a:lnTo>
                  <a:pt x="436418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445808" y="4054098"/>
            <a:ext cx="1496788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0.94253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44000" y="3640352"/>
            <a:ext cx="4364182" cy="1289974"/>
          </a:xfrm>
          <a:custGeom>
            <a:avLst/>
            <a:gdLst/>
            <a:ahLst/>
            <a:cxnLst/>
            <a:rect r="r" b="b" t="t" l="l"/>
            <a:pathLst>
              <a:path h="1289974" w="4364182">
                <a:moveTo>
                  <a:pt x="0" y="0"/>
                </a:moveTo>
                <a:lnTo>
                  <a:pt x="4364182" y="0"/>
                </a:lnTo>
                <a:lnTo>
                  <a:pt x="436418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617843" y="4054098"/>
            <a:ext cx="1403751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90.44%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278488" y="3640352"/>
            <a:ext cx="4145426" cy="1289974"/>
          </a:xfrm>
          <a:custGeom>
            <a:avLst/>
            <a:gdLst/>
            <a:ahLst/>
            <a:cxnLst/>
            <a:rect r="r" b="b" t="t" l="l"/>
            <a:pathLst>
              <a:path h="1289974" w="4145426">
                <a:moveTo>
                  <a:pt x="0" y="0"/>
                </a:moveTo>
                <a:lnTo>
                  <a:pt x="4145426" y="0"/>
                </a:lnTo>
                <a:lnTo>
                  <a:pt x="414542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662991" y="4054098"/>
            <a:ext cx="1403751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98.40%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64086" y="4711687"/>
            <a:ext cx="4364182" cy="1508614"/>
          </a:xfrm>
          <a:custGeom>
            <a:avLst/>
            <a:gdLst/>
            <a:ahLst/>
            <a:cxnLst/>
            <a:rect r="r" b="b" t="t" l="l"/>
            <a:pathLst>
              <a:path h="1508614" w="4364182">
                <a:moveTo>
                  <a:pt x="0" y="0"/>
                </a:moveTo>
                <a:lnTo>
                  <a:pt x="4364182" y="0"/>
                </a:lnTo>
                <a:lnTo>
                  <a:pt x="4364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70470" y="5004344"/>
            <a:ext cx="2256163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Selected tuned without Quality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998574" y="4711687"/>
            <a:ext cx="4364182" cy="1508614"/>
          </a:xfrm>
          <a:custGeom>
            <a:avLst/>
            <a:gdLst/>
            <a:ahLst/>
            <a:cxnLst/>
            <a:rect r="r" b="b" t="t" l="l"/>
            <a:pathLst>
              <a:path h="1508614" w="4364182">
                <a:moveTo>
                  <a:pt x="0" y="0"/>
                </a:moveTo>
                <a:lnTo>
                  <a:pt x="4364182" y="0"/>
                </a:lnTo>
                <a:lnTo>
                  <a:pt x="4364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445808" y="5198722"/>
            <a:ext cx="1496788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0.93939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144000" y="4711687"/>
            <a:ext cx="4364182" cy="1508614"/>
          </a:xfrm>
          <a:custGeom>
            <a:avLst/>
            <a:gdLst/>
            <a:ahLst/>
            <a:cxnLst/>
            <a:rect r="r" b="b" t="t" l="l"/>
            <a:pathLst>
              <a:path h="1508614" w="4364182">
                <a:moveTo>
                  <a:pt x="0" y="0"/>
                </a:moveTo>
                <a:lnTo>
                  <a:pt x="4364182" y="0"/>
                </a:lnTo>
                <a:lnTo>
                  <a:pt x="4364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618252" y="5198722"/>
            <a:ext cx="1402932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91.18%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278488" y="4711687"/>
            <a:ext cx="4145426" cy="1508614"/>
          </a:xfrm>
          <a:custGeom>
            <a:avLst/>
            <a:gdLst/>
            <a:ahLst/>
            <a:cxnLst/>
            <a:rect r="r" b="b" t="t" l="l"/>
            <a:pathLst>
              <a:path h="1508614" w="4145426">
                <a:moveTo>
                  <a:pt x="0" y="0"/>
                </a:moveTo>
                <a:lnTo>
                  <a:pt x="4145426" y="0"/>
                </a:lnTo>
                <a:lnTo>
                  <a:pt x="4145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662991" y="5198722"/>
            <a:ext cx="1403751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96.88%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64086" y="5990729"/>
            <a:ext cx="4364182" cy="1519546"/>
          </a:xfrm>
          <a:custGeom>
            <a:avLst/>
            <a:gdLst/>
            <a:ahLst/>
            <a:cxnLst/>
            <a:rect r="r" b="b" t="t" l="l"/>
            <a:pathLst>
              <a:path h="1519546" w="4364182">
                <a:moveTo>
                  <a:pt x="0" y="0"/>
                </a:moveTo>
                <a:lnTo>
                  <a:pt x="4364182" y="0"/>
                </a:lnTo>
                <a:lnTo>
                  <a:pt x="436418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0944" y="6329698"/>
            <a:ext cx="2208691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Recall-focused</a:t>
            </a:r>
          </a:p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without Quality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998574" y="5990729"/>
            <a:ext cx="4364182" cy="1519546"/>
          </a:xfrm>
          <a:custGeom>
            <a:avLst/>
            <a:gdLst/>
            <a:ahLst/>
            <a:cxnLst/>
            <a:rect r="r" b="b" t="t" l="l"/>
            <a:pathLst>
              <a:path h="1519546" w="4364182">
                <a:moveTo>
                  <a:pt x="0" y="0"/>
                </a:moveTo>
                <a:lnTo>
                  <a:pt x="4364182" y="0"/>
                </a:lnTo>
                <a:lnTo>
                  <a:pt x="436418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446013" y="6539137"/>
            <a:ext cx="1496379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0.91538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144000" y="5990729"/>
            <a:ext cx="4364182" cy="1519546"/>
          </a:xfrm>
          <a:custGeom>
            <a:avLst/>
            <a:gdLst/>
            <a:ahLst/>
            <a:cxnLst/>
            <a:rect r="r" b="b" t="t" l="l"/>
            <a:pathLst>
              <a:path h="1519546" w="4364182">
                <a:moveTo>
                  <a:pt x="0" y="0"/>
                </a:moveTo>
                <a:lnTo>
                  <a:pt x="4364182" y="0"/>
                </a:lnTo>
                <a:lnTo>
                  <a:pt x="436418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617843" y="6539137"/>
            <a:ext cx="1403751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87.50%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278488" y="5990729"/>
            <a:ext cx="4145426" cy="1519546"/>
          </a:xfrm>
          <a:custGeom>
            <a:avLst/>
            <a:gdLst/>
            <a:ahLst/>
            <a:cxnLst/>
            <a:rect r="r" b="b" t="t" l="l"/>
            <a:pathLst>
              <a:path h="1519546" w="4145426">
                <a:moveTo>
                  <a:pt x="0" y="0"/>
                </a:moveTo>
                <a:lnTo>
                  <a:pt x="4145426" y="0"/>
                </a:lnTo>
                <a:lnTo>
                  <a:pt x="414542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662991" y="6539137"/>
            <a:ext cx="1403751" cy="46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0F8F8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95.97%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64086" y="7707051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82842" y="7707051"/>
            <a:ext cx="16341072" cy="2153601"/>
          </a:xfrm>
          <a:custGeom>
            <a:avLst/>
            <a:gdLst/>
            <a:ahLst/>
            <a:cxnLst/>
            <a:rect r="r" b="b" t="t" l="l"/>
            <a:pathLst>
              <a:path h="2153601" w="16341072">
                <a:moveTo>
                  <a:pt x="0" y="0"/>
                </a:moveTo>
                <a:lnTo>
                  <a:pt x="16341072" y="0"/>
                </a:lnTo>
                <a:lnTo>
                  <a:pt x="1634107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86412" y="8130051"/>
            <a:ext cx="9414295" cy="3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true">
                <a:solidFill>
                  <a:srgbClr val="08224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Removing Quality slightly improves recall but lowers F1.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4003" y="8664128"/>
            <a:ext cx="11655178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Note: With-Quality run uses different manual settings, not same Optuna tuning.</a:t>
            </a:r>
          </a:p>
          <a:p>
            <a:pPr algn="l">
              <a:lnSpc>
                <a:spcPts val="3347"/>
              </a:lnSpc>
            </a:pPr>
            <a:r>
              <a:rPr lang="en-US" sz="2575">
                <a:solidFill>
                  <a:srgbClr val="082240"/>
                </a:solidFill>
                <a:latin typeface="Arial Nova"/>
                <a:ea typeface="Arial Nova"/>
                <a:cs typeface="Arial Nova"/>
                <a:sym typeface="Arial Nova"/>
              </a:rPr>
              <a:t>These are recorded runs, not a controlled experiment.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4354" y="0"/>
            <a:ext cx="7623646" cy="10287000"/>
          </a:xfrm>
          <a:custGeom>
            <a:avLst/>
            <a:gdLst/>
            <a:ahLst/>
            <a:cxnLst/>
            <a:rect r="r" b="b" t="t" l="l"/>
            <a:pathLst>
              <a:path h="10287000" w="7623646">
                <a:moveTo>
                  <a:pt x="0" y="0"/>
                </a:moveTo>
                <a:lnTo>
                  <a:pt x="7623646" y="0"/>
                </a:lnTo>
                <a:lnTo>
                  <a:pt x="7623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4688" y="641803"/>
            <a:ext cx="6540539" cy="19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9"/>
              </a:lnSpc>
            </a:pPr>
            <a:r>
              <a:rPr lang="en-US" sz="6892" b="true">
                <a:solidFill>
                  <a:srgbClr val="092743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Conclusion and 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576" y="2851720"/>
            <a:ext cx="7651797" cy="2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1"/>
              </a:lnSpc>
              <a:spcBef>
                <a:spcPct val="0"/>
              </a:spcBef>
            </a:pPr>
            <a:r>
              <a:rPr lang="en-US" sz="2623" strike="noStrike" u="none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Promising results need further validation</a:t>
            </a:r>
          </a:p>
          <a:p>
            <a:pPr algn="l" marL="0" indent="0" lvl="0">
              <a:lnSpc>
                <a:spcPts val="4721"/>
              </a:lnSpc>
              <a:spcBef>
                <a:spcPct val="0"/>
              </a:spcBef>
            </a:pPr>
            <a:r>
              <a:rPr lang="en-US" sz="2623" strike="noStrike" u="none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Fit imputation within training and CV folds</a:t>
            </a:r>
          </a:p>
          <a:p>
            <a:pPr algn="l" marL="0" indent="0" lvl="0">
              <a:lnSpc>
                <a:spcPts val="4721"/>
              </a:lnSpc>
              <a:spcBef>
                <a:spcPct val="0"/>
              </a:spcBef>
            </a:pPr>
            <a:r>
              <a:rPr lang="en-US" sz="2623" strike="noStrike" u="none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Justify forward-fill row ordering</a:t>
            </a:r>
          </a:p>
          <a:p>
            <a:pPr algn="l" marL="0" indent="0" lvl="0">
              <a:lnSpc>
                <a:spcPts val="4721"/>
              </a:lnSpc>
              <a:spcBef>
                <a:spcPct val="0"/>
              </a:spcBef>
            </a:pPr>
            <a:r>
              <a:rPr lang="en-US" sz="2623" strike="noStrike" u="none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Reserve a fresh final test set</a:t>
            </a:r>
          </a:p>
          <a:p>
            <a:pPr algn="l" marL="0" indent="0" lvl="0">
              <a:lnSpc>
                <a:spcPts val="4721"/>
              </a:lnSpc>
              <a:spcBef>
                <a:spcPct val="0"/>
              </a:spcBef>
            </a:pPr>
            <a:r>
              <a:rPr lang="en-US" sz="2623" strike="noStrike" u="none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Check reproducibility across training seeds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6209369"/>
            <a:ext cx="9811206" cy="3443576"/>
          </a:xfrm>
          <a:custGeom>
            <a:avLst/>
            <a:gdLst/>
            <a:ahLst/>
            <a:cxnLst/>
            <a:rect r="r" b="b" t="t" l="l"/>
            <a:pathLst>
              <a:path h="3443576" w="9811206">
                <a:moveTo>
                  <a:pt x="0" y="0"/>
                </a:moveTo>
                <a:lnTo>
                  <a:pt x="9811206" y="0"/>
                </a:lnTo>
                <a:lnTo>
                  <a:pt x="981120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6574" y="6209369"/>
            <a:ext cx="448450" cy="3443576"/>
          </a:xfrm>
          <a:custGeom>
            <a:avLst/>
            <a:gdLst/>
            <a:ahLst/>
            <a:cxnLst/>
            <a:rect r="r" b="b" t="t" l="l"/>
            <a:pathLst>
              <a:path h="3443576" w="448450">
                <a:moveTo>
                  <a:pt x="0" y="0"/>
                </a:moveTo>
                <a:lnTo>
                  <a:pt x="448450" y="0"/>
                </a:lnTo>
                <a:lnTo>
                  <a:pt x="44845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5105" y="6399443"/>
            <a:ext cx="3354598" cy="4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4"/>
              </a:lnSpc>
              <a:spcBef>
                <a:spcPct val="0"/>
              </a:spcBef>
            </a:pPr>
            <a:r>
              <a:rPr lang="en-US" b="true" sz="3168" strike="noStrike" u="none">
                <a:solidFill>
                  <a:srgbClr val="0F898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Evaluation limits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802" y="7057803"/>
            <a:ext cx="8118227" cy="7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No claim of fully preventing leakage or proving model stability</a:t>
            </a:r>
          </a:p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Cross-validated F1 does not equal test F1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9631" y="8279296"/>
            <a:ext cx="1835306" cy="4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true">
                <a:solidFill>
                  <a:srgbClr val="0F898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Built with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089" y="8729648"/>
            <a:ext cx="8889512" cy="38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351">
                <a:solidFill>
                  <a:srgbClr val="092743"/>
                </a:solidFill>
                <a:latin typeface="Arial Nova"/>
                <a:ea typeface="Arial Nova"/>
                <a:cs typeface="Arial Nova"/>
                <a:sym typeface="Arial Nova"/>
              </a:rPr>
              <a:t>Python, pandas, NumPy, scikit-learn, Optuna, Matplotlib, Seaborn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DAHXQliqnFA</dc:identifier>
  <dcterms:modified xsi:type="dcterms:W3CDTF">2011-08-01T06:04:30Z</dcterms:modified>
  <cp:revision>1</cp:revision>
  <dc:title>Machine Failure Detection</dc:title>
</cp:coreProperties>
</file>